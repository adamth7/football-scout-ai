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463040"/>
            <a:ext cx="9784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</a:defRPr>
            </a:pPr>
            <a:r>
              <a:t>TACTICAL INTELLIGENCE &amp; LINEUP OPTIMIZATION SYSTEM</a:t>
            </a:r>
          </a:p>
          <a:p>
            <a:pPr>
              <a:spcAft>
                <a:spcPts val="1800"/>
              </a:spcAft>
              <a:defRPr sz="3600" b="1">
                <a:solidFill>
                  <a:srgbClr val="F8FAFC"/>
                </a:solidFill>
              </a:defRPr>
            </a:pPr>
            <a:r>
              <a:t>Mathematical Formulations &amp; Algorithmic Architecture</a:t>
            </a:r>
          </a:p>
          <a:p>
            <a:pPr>
              <a:spcAft>
                <a:spcPts val="3600"/>
              </a:spcAft>
              <a:defRPr sz="1600">
                <a:solidFill>
                  <a:srgbClr val="CBD5E1"/>
                </a:solidFill>
              </a:defRPr>
            </a:pPr>
            <a:r>
              <a:t>A Comprehensive Oral Defense &amp; Technical Breakdown of all ML Models, Optimization Solvers, and Recommendation Engines.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Algorithms Covered: Hungarian Algorithm (Munkres) • Cosine Similarity • Multi-Criteria Decision Analysis (MCDA) • K-Means &amp; Silhouette Optimization • Principal Component Analysis (PCA) • Random Forest Ensemble • PPDA Tactical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FOOTBALL SCOUT AI — ALGORITHMIC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Algorithmic Architecture &amp; System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210312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</a:defRPr>
            </a:pPr>
            <a:r>
              <a:t>Starting XI Lineup Optimizer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Hungarian Algorithm (Linear Sum Assignment)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Solves global bipartite matching in O(N³) to find the globally optimal 11-player lineup without greedy role collision.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210312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</a:defRPr>
            </a:pPr>
            <a:r>
              <a:t>Player Candidate Ranking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Multi-Criteria Decision Analysis (MCDA)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Blends 5 normalized sub-scores (Form, Role, Tactical Fit, Style, Availability) into a customized utility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29000" cy="210312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</a:defRPr>
            </a:pPr>
            <a:r>
              <a:t>Statistical Twin Detection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Vector Space Cosine Similarity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Evaluates angular alignment over 12-dimensional MinMax-scaled per-90 metrics to match stylistic tactical twins.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429000" cy="210312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</a:defRPr>
            </a:pPr>
            <a:r>
              <a:t>Tactical Archetype Lab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K-Means + Silhouette Validation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Discovers data-driven player archetypes by minimizing inertia across k=3..8, evaluated via Silhouette coefficients.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931920"/>
            <a:ext cx="3429000" cy="210312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6908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</a:defRPr>
            </a:pPr>
            <a:r>
              <a:t>Tactical Dimensionality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Principal Component Analysis (PCA)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Reduces 12 correlated performance dimensions into orthogonal principal components and 2D scatter coordinates.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31920"/>
            <a:ext cx="3429000" cy="210312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6908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</a:defRPr>
            </a:pPr>
            <a:r>
              <a:t>Match Outcome Predictor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Random Forest Classifier + Rolling Form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Ensemble of 120 decision trees trained on chronological rolling 5-game windows to guarantee zero data leakage.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FOOTBALL SCOUT AI — ALGORITHMIC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Lineup Optimization — The Hungarian Algorithm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8FAFC"/>
                </a:solidFill>
              </a:defRPr>
            </a:pPr>
            <a:r>
              <a:t>1. Problem Formulation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The Challenge: Lineup selection is a Bipartite Graph Matching problem. A squad has S players and 11 distinct tactical roles.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Why Greedy Fails: Selecting the top player for role 1, then role 2, causes cascade failures (e.g. 3 right-wingers selected, no left-back, or star striker assigned to midfield).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• The Solution: Kuhn-Munkres (Hungarian) Algorithm via scipy.optimize.linear_sum_assignment.</a:t>
            </a:r>
          </a:p>
          <a:p>
            <a:pPr>
              <a:defRPr sz="1300">
                <a:solidFill>
                  <a:srgbClr val="06B6D4"/>
                </a:solidFill>
              </a:defRPr>
            </a:pPr>
            <a:r>
              <a:t>• Guarantees global maximum team suitability in polynomial time O(N³) rather than exponential brute force O(N!).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8FAFC"/>
                </a:solidFill>
              </a:defRPr>
            </a:pPr>
            <a:r>
              <a:t>2. Cost Matrix &amp; Hard Penalties</a:t>
            </a:r>
          </a:p>
          <a:p>
            <a:pPr>
              <a:spcAft>
                <a:spcPts val="1000"/>
              </a:spcAft>
              <a:defRPr sz="1300" b="1">
                <a:solidFill>
                  <a:srgbClr val="06B6D4"/>
                </a:solidFill>
              </a:defRPr>
            </a:pPr>
            <a:r>
              <a:t>Cost Inversion: Since SciPy minimizes cost, suitability is negated:</a:t>
            </a:r>
            <a:br/>
            <a:r>
              <a:t>Cost(i, j) = -Suitability(i, j)</a:t>
            </a:r>
          </a:p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</a:defRPr>
            </a:pPr>
            <a:r>
              <a:t>Tactical Constraint Enforcement: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GK Isolation Penalty: Score = -500.0 if outfield player is put in GK or GK in outfield.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Positional Line Mismatch: Score -= 90.0 if an attacker is assigned to a defensive role without verified secondary versatility.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Locked Player Priority: Score += 300.0 if manager explicitly locks a player into the starting lineup.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FOOTBALL SCOUT AI — ALGORITHMIC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Player Ranking — Multi-Criteria Decision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Composite Utility Function: 5 Weighted Tactical Pillars</a:t>
            </a:r>
          </a:p>
          <a:p>
            <a:pPr>
              <a:spcAft>
                <a:spcPts val="1600"/>
              </a:spcAft>
              <a:defRPr sz="1400" b="1">
                <a:solidFill>
                  <a:srgbClr val="10B981"/>
                </a:solidFill>
              </a:defRPr>
            </a:pPr>
            <a:r>
              <a:t>Composite Score = (w_form • S_form + w_role • S_role + w_tactical • S_tactical + w_style • S_style + w_avail • S_avail) / Σ w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1. Form Score (0-100): Calibrated on recent minutes played and conditioning: min(100, 50 + (Minutes/40)*10 + (Fitness - 85)*2)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2. Role Score (0-100): Position-specific per-90 metrics (e.g. ST: 60*xG + 40*Goals + 5*Shots; DM: 10*Tackles + 10*Interceptions + 4*ProgPasses) multiplied by Positional Match Factor (1.0 primary, 0.65 secondary, 0.20 out-of-position)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3. Tactical Fit (0-100): Dynamically adapts to opponent pressing pattern (PPDA): If opponent PPDA &lt; 10 (aggressive press), rewards press-resistant progressive passers (&gt;6.0 p90) with +15.0 bonus; counter-attacking boosts carries (+12.0)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4. Style Score (0-100): Evaluates passing tempo compatibility and progressive delivery into the final third (75.0 + min(20, ProgPasses * 2.5))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5. Availability (0-100): Workload fatigue degradation model: S_avail = Fitness Rating - (Fatigue Index * 1.5), penalized if flagged as injured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FOOTBALL SCOUT AI — ALGORITHMIC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Scouting Engine — Vector Space Cosine Similarity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Why Cosine Similarity Over Euclidean?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The Flaw of Euclidean Distance:</a:t>
            </a:r>
            <a:br/>
            <a:r>
              <a:t>Euclidean distance measures spatial magnitude. A player on a dominant 70% possession team produces 2x the raw volume of an identical talent on a relegation club, distorting Euclidean similarity.</a:t>
            </a:r>
          </a:p>
          <a:p>
            <a:pPr>
              <a:spcAft>
                <a:spcPts val="1000"/>
              </a:spcAft>
              <a:defRPr sz="1300">
                <a:solidFill>
                  <a:srgbClr val="06B6D4"/>
                </a:solidFill>
              </a:defRPr>
            </a:pPr>
            <a:r>
              <a:t>• The Power of Cosine Similarity:</a:t>
            </a:r>
            <a:br/>
            <a:r>
              <a:t>Evaluates the angle θ between two 12-dimensional vectors in space. It assesses proportional tactical fingerprint rather than raw scale.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Sim(u, v) = (u • v) / (||u||₂ ||v||₂) = cos(θ)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12-Dimensional Feature Vector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All metrics normalized via MinMaxScaler into [0, 1]: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1. Goals per 90 &amp; Expected Goals (xG)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2. Assists per 90 &amp; Expected Assists (xA)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3. Key Passes &amp; Shot-Creating Actions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4. Progressive Passes (advancing ball &gt;= 10 yds)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5. Progressive Carries (driving ball forward)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6. Successful Dribbles &amp; Take-On Rate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7. Tackles &amp; Interceptions Won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8. Ball Recoveries &amp; Aerial Duel Win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FOOTBALL SCOUT AI — ALGORITHMIC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Unsupervised Archetypes — K-Means &amp; Silhouette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</a:defRPr>
            </a:pPr>
            <a:r>
              <a:t>Discovering Tactical Roles Without Human Labeling Bias</a:t>
            </a:r>
          </a:p>
          <a:p>
            <a:pPr>
              <a:spcAft>
                <a:spcPts val="1000"/>
              </a:spcAft>
              <a:defRPr sz="1300" b="1">
                <a:solidFill>
                  <a:srgbClr val="06B6D4"/>
                </a:solidFill>
              </a:defRPr>
            </a:pPr>
            <a:r>
              <a:t>1. Optimization Objective: Minimizes Within-Cluster Sum of Squares (Inertia):</a:t>
            </a:r>
            <a:br/>
            <a:r>
              <a:t>J = Σₖ Σᵢ ||xᵢ - μₖ||²</a:t>
            </a:r>
          </a:p>
          <a:p>
            <a:pPr>
              <a:spcAft>
                <a:spcPts val="1400"/>
              </a:spcAft>
              <a:defRPr sz="1300">
                <a:solidFill>
                  <a:srgbClr val="CBD5E1"/>
                </a:solidFill>
              </a:defRPr>
            </a:pPr>
            <a:r>
              <a:t>2. Cluster Quality (Silhouette Coefficient Validation):</a:t>
            </a:r>
            <a:br/>
            <a:r>
              <a:t>s(i) = [b(i) - a(i)] / max(a(i), b(i))   where a(i) is mean intra-cluster distance and b(i) is nearest-cluster distance. Evaluated over k in [3..8].</a:t>
            </a:r>
          </a:p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</a:defRPr>
            </a:pPr>
            <a:r>
              <a:t>3. Automated Centroid Interpretation Engine: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• Clinical Finishing Striker ➔ Centroid: xG &gt;= 0.45 per 90 (e.g. Erling Haaland, Harry Kane)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• Ball-Winning Defensive Anchor ➔ Centroid: Tackles &gt;= 2.8 and ProgPass &lt; 5.0 (e.g. Casemiro, Palhinha)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• Creative Playmaker / Chance Creator ➔ Centroid: Key Passes &gt;= 2.0 or (ProgPass &gt;= 7.0 and Assists &gt;= 0.2) (e.g. De Bruyne, Pedri)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• Dynamic Direct Ball-Carrying Winger ➔ Centroid: ProgCarries &gt;= 4.5 and xG &gt;= 0.20 (e.g. Vinícius Jr, Saka, Doku)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• Box-to-Box Transition Engine ➔ Centroid: ProgPass &gt;= 5.5 and Tackles &gt;= 2.0 (e.g. Valverde, Barella, Rice)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FOOTBALL SCOUT AI — ALGORITHMIC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Dimensionality Reduction — Principal Component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Mathematical Foundation</a:t>
            </a:r>
          </a:p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1. Covariance Matrix Decomposition:</a:t>
            </a:r>
            <a:br/>
            <a:r>
              <a:t>Σ = 1/(N-1) • XᵀX</a:t>
            </a:r>
            <a:br/>
            <a:r>
              <a:t>Σ vₖ = λₖ vₖ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Solves for orthogonal eigenvectors vₖ capturing directions of maximum tactical variance.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2. Explained Variance Ratio (Scree Curve):</a:t>
            </a:r>
            <a:br/>
            <a:r>
              <a:t>EVRₖ = λₖ / Σ λⱼ</a:t>
            </a:r>
            <a:br/>
            <a:r>
              <a:t>Shows cumulative information retained across top components.</a:t>
            </a:r>
          </a:p>
          <a:p>
            <a:pPr>
              <a:defRPr sz="1300">
                <a:solidFill>
                  <a:srgbClr val="10B981"/>
                </a:solidFill>
              </a:defRPr>
            </a:pPr>
            <a:r>
              <a:t>• Excludes GKs to prevent extreme distribution distortion in outfield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Tactical Component Loadings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Component 1: Offensive Creation Axis (PC1)</a:t>
            </a:r>
            <a:br/>
            <a:r>
              <a:t>• Positive Loadings: xG (+0.42), Goals (+0.39), Progressive Carries (+0.36)</a:t>
            </a:r>
            <a:br/>
            <a:r>
              <a:t>• Negative Loadings: Tackles (-0.38), Interceptions (-0.34)</a:t>
            </a:r>
            <a:br/>
            <a:r>
              <a:t>• Separates goal-threat attackers from defensive stoppers.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Component 2: Physical &amp; Aerial Anchor Axis (PC2)</a:t>
            </a:r>
            <a:br/>
            <a:r>
              <a:t>• Positive Loadings: Aerials Won (+0.46), Recoveries (+0.38), Tackles (+0.31)</a:t>
            </a:r>
            <a:br/>
            <a:r>
              <a:t>• Negative Loadings: Dribbles (-0.29)</a:t>
            </a:r>
            <a:br/>
            <a:r>
              <a:t>• Separates physically dominant center-backs from agile wingers.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2D Projection Coordinates: Plotted directly on interactive scatter coordinates (PC1, PC2).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FOOTBALL SCOUT AI — ALGORITHMIC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Supervised Match Forecasting — Random Forest Ensemble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</a:defRPr>
            </a:pPr>
            <a:r>
              <a:t>Multi-Class Outcome Probability: P(Home Win), P(Draw), P(Away Win)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Zero-Data-Leakage Chronological Split: Matches are strictly sequenced by date. For match t, features are computed exclusively using rolling statistics from prior completed games (matches[date &lt; m_date]). No future information leaks into training.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The 8 Pre-Match Rolling Tactical Features: Home &amp; Away rolling 5-game: xG created (h_xg_form), xG conceded (h_xg_conceded_form), field possession % (h_pos_form), and pressing intensity (h_ppda_form).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Model Selection: 120-Tree Random Forest: Ensemble bagging prevents overfitting on high-variance match results. Generates calibrated probabilities and Gini feature importances showing which tactical driver dominates.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Expected Goals (xG) Forecasting Formula: Pred_Home_xG = 0.60 * Home_xG_Created + 0.40 * Away_xG_Conceded + 0.20 (Home Advantage Offset)</a:t>
            </a:r>
            <a:br/>
            <a:r>
              <a:t>Pred_Away_xG = 0.55 * Away_xG_Created + 0.45 * Home_xG_Conceded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Multi-Class Brier Score &amp; Calibration: Evaluated via Brier Score Loss: Brier = 1/N Σᵢ Σₖ (p_ik - y_ik)² alongside Macro F1 to penalize overconfident misclassifications.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FOOTBALL SCOUT AI — ALGORITHMIC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Opposition Intelligence — PPDA &amp; Pressing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The PPDA Tactical Metric</a:t>
            </a:r>
          </a:p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PPDA = Opponent Passes in Def. 60% of Pitch / Defensive Actions (Tackles + Ints + Challenges)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Tactical Intensity Thresholds:</a:t>
            </a:r>
            <a:br/>
            <a:r>
              <a:t>• PPDA &lt; 9.5: Aggressive High-Press (Man City, Bayern)</a:t>
            </a:r>
            <a:br/>
            <a:r>
              <a:t>• 9.5 &lt;= PPDA &lt;= 13.0: Moderate Mid-Block (Arsenal, Real Madrid)</a:t>
            </a:r>
            <a:br/>
            <a:r>
              <a:t>• PPDA &gt; 13.0: Deep Low-Block / Counter-Attack (Atlético Madrid)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Quantifies how many passes an opponent allows before actively challenging.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Automated Counter-Strategy Engine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When Opponent PPDA &lt; 9.5</a:t>
            </a:r>
            <a:br/>
            <a:r>
              <a:t>Vulnerability: High Line &amp; Rest Defense Space Exposure.</a:t>
            </a:r>
            <a:br/>
            <a:r>
              <a:t>➔ Tactic: Direct vertical passes into wide channels behind advancing fullbacks; deploy press-resistant pivot.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When Opponent xG Conceded &gt;= 1.3</a:t>
            </a:r>
            <a:br/>
            <a:r>
              <a:t>Vulnerability: Penalty Box Defensive Fragility.</a:t>
            </a:r>
            <a:br/>
            <a:r>
              <a:t>➔ Tactic: Overload the 18-yard box with second-wave arriving central midfielders on cutbacks.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When Opponent Possession &gt; 54%</a:t>
            </a:r>
            <a:br/>
            <a:r>
              <a:t>Vulnerability: Transition Vulnerability in Mid-Third.</a:t>
            </a:r>
            <a:br/>
            <a:r>
              <a:t>➔ Tactic: Deploy mid-block trigger trap; force build-up into their least technically secure central defender.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FOOTBALL SCOUT AI — ALGORITHMIC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In-Game Decision Support — Dynamic Substitution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</a:defRPr>
            </a:pPr>
            <a:r>
              <a:t>Simulating Real-Time In-Game Fatigue &amp; Scenario Optimization</a:t>
            </a:r>
          </a:p>
          <a:p>
            <a:pPr>
              <a:spcAft>
                <a:spcPts val="1400"/>
              </a:spcAft>
              <a:defRPr sz="1400" b="1">
                <a:solidFill>
                  <a:srgbClr val="06B6D4"/>
                </a:solidFill>
              </a:defRPr>
            </a:pPr>
            <a:r>
              <a:t>Dynamic Fatigue Function: Effective Fatigue(t) = Base Fatigue + 0.40 • Minute(t)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Candidate Outfield Selection: Active outfield players are sorted by descending effective fatigue. Players exceeding fatigue thresholds (&gt; 25 base + late minute) are prioritized for substitution.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Safe Versatility Bench Matching: Matches fatigued active players against available bench substitutes sharing identical primary position or registered secondary positions. Fallbacks gracefully to broad positional lines (Def, Mid, Att).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Tactical Game-State Branching: • Chase Goal (Score Diff &lt;= 0): Injects fresh attacking speed and box finishers to overturn deficit.</a:t>
            </a:r>
            <a:br/>
            <a:r>
              <a:t>• Protect Lead (Score Diff &gt; 0): Introduces defensive midfield destroyers to solidify defensive transitions.</a:t>
            </a:r>
            <a:br/>
            <a:r>
              <a:t>• Conditioning (Minute &gt;= 70): Proactive stamina rotation to maintain high pressing tempo.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Explainable Output: Generates natural language tactical rationale and expected tactical impact for every proposed change.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FOOTBALL SCOUT AI — ALGORITHMIC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Correlation &amp; Inference Lab — Pearson, Spearman &amp; p-Values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Dual Correlation Matrices</a:t>
            </a:r>
          </a:p>
          <a:p>
            <a:pPr>
              <a:spcAft>
                <a:spcPts val="1000"/>
              </a:spcAft>
              <a:defRPr sz="1200" b="1">
                <a:solidFill>
                  <a:srgbClr val="06B6D4"/>
                </a:solidFill>
              </a:defRPr>
            </a:pPr>
            <a:r>
              <a:t>1. Pearson Linear Correlation (r):</a:t>
            </a:r>
            <a:br/>
            <a:r>
              <a:t>Measures strictly linear relationships between performance metrics:</a:t>
            </a:r>
            <a:br/>
            <a:r>
              <a:t>r = Σ(x - x̄)(y - ȳ) / [√Σ(x - x̄)² √Σ(y - ȳ)²]</a:t>
            </a:r>
          </a:p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2. Spearman Rank Correlation (ρ):</a:t>
            </a:r>
            <a:br/>
            <a:r>
              <a:t>Measures monotonic co-movement even when relationships are non-linear:</a:t>
            </a:r>
            <a:br/>
            <a:r>
              <a:t>ρ = 1 - [6 Σ dᵢ² / (n(n² - 1))]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Allows analysts to differentiate between true linear scalability and rank-order progression.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Hypothesis Significance Testing</a:t>
            </a:r>
          </a:p>
          <a:p>
            <a:pPr>
              <a:spcAft>
                <a:spcPts val="1000"/>
              </a:spcAft>
              <a:defRPr sz="1300" b="1">
                <a:solidFill>
                  <a:srgbClr val="06B6D4"/>
                </a:solidFill>
              </a:defRPr>
            </a:pPr>
            <a:r>
              <a:t>Student's t-Distribution for p-Values:</a:t>
            </a:r>
            <a:br/>
            <a:r>
              <a:t>t = r • √[(N - 2) / (1 - r²)]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Null Hypothesis (H₀): No correlation exists (r = 0).</a:t>
            </a:r>
            <a:br/>
            <a:r>
              <a:t>• Threshold: Pairs with p &lt; 0.05 are flagged as statistically significant co-movements.</a:t>
            </a:r>
            <a:br/>
            <a:r>
              <a:t>• Key Validated Findings:</a:t>
            </a:r>
            <a:br/>
            <a:r>
              <a:t>  - xG and Goals show strong linear correlation (r &gt; 0.88, p &lt; 0.001)</a:t>
            </a:r>
            <a:br/>
            <a:r>
              <a:t>  - Tackles and Interceptions show moderate monotonic correlation (ρ &gt; 0.62, p &lt; 0.01)</a:t>
            </a:r>
            <a:br/>
            <a:r>
              <a:t>  - Progressive Carries and Tackles show inverse correlation (r &lt; -0.45)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FOOTBALL SCOUT AI — ALGORITHMIC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Summary &amp; Oral Defense Cheat Sheet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4 Key Talking Points for Technical Interviews &amp; Presentations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Q1: Why Hungarian Algorithm for Lineups?</a:t>
            </a:r>
            <a:br/>
            <a:r>
              <a:t>➔ It solves lineup selection as a Bipartite Graph Matching problem in O(N³) time, guaranteeing the globally optimal 11-player lineup without greedy role collision, while hard penalties enforce formation rules (e.g. exactly 1 GK).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Q2: Why Cosine Similarity for Player Scouting?</a:t>
            </a:r>
            <a:br/>
            <a:r>
              <a:t>➔ Because raw Euclidean distance punishes players on low-possession teams. Cosine similarity measures the angle of a 12D normalized vector, identifying identical tactical playing styles regardless of team dominance.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Q3: Why K-Means with Silhouette Validation?</a:t>
            </a:r>
            <a:br/>
            <a:r>
              <a:t>➔ Traditional positions (FW/MF/DF) are too broad. K-Means discovers data-driven tactical archetypes (e.g. Poacher vs False 9), while Silhouette analysis determines the mathematically optimal cluster count k.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Q4: How Does Match Prediction Prevent Data Leakage?</a:t>
            </a:r>
            <a:br/>
            <a:r>
              <a:t>➔ We strictly sequence matches chronologically. Rolling 5-game form features are computed only on matches prior to kickoff date (matches[date &lt; m_date]), ensuring zero leakage into the Random Forest ensemble.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